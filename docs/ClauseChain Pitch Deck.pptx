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87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0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279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0ED1D4-57C3-569F-00BB-323097F5E0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"/>
          </a:blip>
          <a:srcRect b="11712"/>
          <a:stretch>
            <a:fillRect/>
          </a:stretch>
        </p:blipFill>
        <p:spPr>
          <a:xfrm>
            <a:off x="2173507" y="111062"/>
            <a:ext cx="8024041" cy="67469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32844C-78E5-372B-96C8-A9412D349A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2676"/>
          <a:stretch>
            <a:fillRect/>
          </a:stretch>
        </p:blipFill>
        <p:spPr>
          <a:xfrm>
            <a:off x="11699055" y="6420678"/>
            <a:ext cx="394381" cy="3279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ESCAP REGTECH AI HACKATHON 2026 · RDTII 2.1 · PILLARS 6 &amp; 7</a:t>
            </a:r>
            <a:endParaRPr lang="en-US" sz="1300" dirty="0">
              <a:solidFill>
                <a:schemeClr val="accent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ClauseChain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proof for every exported legal row.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79" y="3566160"/>
            <a:ext cx="10750163" cy="2377440"/>
          </a:xfrm>
          <a:prstGeom prst="roundRect">
            <a:avLst>
              <a:gd name="adj" fmla="val 3077"/>
            </a:avLst>
          </a:prstGeom>
          <a:solidFill>
            <a:srgbClr val="1639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zAI BD — BANGLADESH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399" y="4160520"/>
            <a:ext cx="1001864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Naser Md. Nafew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Lead, Full-stack &amp; AI Engineer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Insaful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Rahman Tusar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Legal Review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Punam Chowdhury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Engineer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Saniul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Basir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Engineer</a:t>
            </a:r>
            <a:endParaRPr lang="en-US" sz="1600" dirty="0"/>
          </a:p>
        </p:txBody>
      </p:sp>
      <p:sp>
        <p:nvSpPr>
          <p:cNvPr id="9" name="Rounded Rectangle 8"/>
          <p:cNvSpPr/>
          <p:nvPr/>
        </p:nvSpPr>
        <p:spPr>
          <a:xfrm>
            <a:off x="9290101" y="73152"/>
            <a:ext cx="2828747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1" name="Picture 10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  <p:pic>
        <p:nvPicPr>
          <p:cNvPr id="12" name="Picture 11" descr="cc_logo.png">
            <a:extLst>
              <a:ext uri="{FF2B5EF4-FFF2-40B4-BE49-F238E27FC236}">
                <a16:creationId xmlns:a16="http://schemas.microsoft.com/office/drawing/2014/main" id="{6E7F55FF-8BBC-B3B6-3B79-A2036C657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8836" y="6493245"/>
            <a:ext cx="1502811" cy="2723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98982"/>
            <a:ext cx="1600200" cy="6424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50876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legal-evidence engine that turns official statute portals, gazette PDFs and treaty texts into RDTII 2.1 indicator evidence — every row carrying a byte-exact verbatim snippet, pinpoint citation, archived source and a verification receipt.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101008"/>
            <a:ext cx="1600200" cy="620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78892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evidence collection is manual, slow and fragile: scattered portals, anti-bot walls, scanned gazettes, bilingual statutes, dead links, and citation errors that are expensive for lawyers to catch.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34864"/>
            <a:ext cx="1600200" cy="766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406908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Format-based extractors (HTML / PDF / EPUB / OCR) → statute-structure RuleUnit graph (SQLite / Neo4j) → hybrid retrieval (exact-phrase + BM25 + dense) → LLM mapping with rubric-as-code → 9 deterministic gates → adversarial refuter → named human review → deterministic replay.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645426"/>
            <a:ext cx="1600200" cy="636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P6 &amp; P7 FIT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534924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is encoded as data (YAML), not code: indicator polarity, 0.5 tiers, the 7.5 court-order test, and 6.5 treaty evidence all flow through one generic pipeline — the same design that now runs six economies (TH · IN · ID added as data only).</a:t>
            </a:r>
            <a:endParaRPr lang="en-US" sz="1250" dirty="0"/>
          </a:p>
        </p:txBody>
      </p:sp>
      <p:pic>
        <p:nvPicPr>
          <p:cNvPr id="16" name="Picture 15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7" name="Picture 16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910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80160" y="19385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lives across statute portals, regulator PDFs, gazettes and treaty registers — each with its own markup, structure and access rules.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73368" y="1664208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15910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acquisition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03720" y="19385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CloudFront/Akamai anti-bot walls, geo-blocks and TLS fingerprinting; links in official inventories die (we found dead links in the provided inventory itself).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383280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documents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80160" y="3657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gazettes need OCR; consolidated acts exceed 600 pages; Malaysia publishes bilingual text ("Seksyen 12A"); treaties use Article grammar.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3368" y="3383280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precision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03720" y="3657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that stops mid-clause, a repealed act cited as current, or a wrong pinpoint costs real credibility — lawyers must verify in seconds, not hours.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102352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traps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80160" y="537667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7.1/7.2 score the ABSENCE of frameworks; 7.5 turns on a court-order test; 6.4-vs-6.1 hinges on condition-vs-ban — keyword matching gets these wrong.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73368" y="5102352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absence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03720" y="537667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provision found" is a claim about the whole corpus — it must be backed by a search-coverage manifest, not silence.</a:t>
            </a:r>
            <a:endParaRPr lang="en-US" sz="1100" dirty="0"/>
          </a:p>
        </p:txBody>
      </p:sp>
      <p:pic>
        <p:nvPicPr>
          <p:cNvPr id="34" name="Picture 33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35" name="Picture 34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CLAUSECHAIN IS DESIGNED TO ACCOMPLISH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discovery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554480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official portals and the ESCAP legal inventory; acquire, archive and hash every source; discover provision-level NEW evidence beyond the sample kit — the 20-point lever.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24912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1635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extraction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2816352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statutes into their real structure (Part → section → subsection), never fixed-size chunks; OCR scanned gazettes with CER &lt; 5%; keep original-language verbatim text.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86784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78224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mapping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4078224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provisions to P6-I1…P7-I5 with rubric-as-code + LLM reasoning, then force every row through 9 deterministic gates before it may exist in the output.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48656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248656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40096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Human-authoritative output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5340096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Role-separated named review (citation vs mapping), append-only decision receipts, and a deterministic replay that regenerates the final CSV/JSON from approvals alone.</a:t>
            </a:r>
            <a:endParaRPr lang="en-US" sz="1250" dirty="0"/>
          </a:p>
        </p:txBody>
      </p:sp>
      <p:pic>
        <p:nvPicPr>
          <p:cNvPr id="20" name="Picture 19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21" name="Picture 20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FLOW, SOURCE TO 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14548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80360" y="1481328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481328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lom.agc · legislation.gov.au · ratchakitcha · eGazette · BPK/JDIH · treaties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81328" y="2194560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59152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1D6FB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5915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2359152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359152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pipeline · politeness + Playwright anti-bot fallback · archive + SHA-256 · reconciliation 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81328" y="3072384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236976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E9E8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3697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80360" y="3236976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3236976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Format-based: anchored HTML · statute PDF · EPUB oracle · OCR VM · grammar profiles (treaty / Malay)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81328" y="3950208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11480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148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80360" y="4114800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411480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RuleUnit store (SQLite default, Neo4j opt-in) · FTS5 + embeddings · cross-references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81328" y="4828032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992624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9262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GATE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80360" y="4992624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0" y="4992624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→ LLM screen/map (bulk→escalation tiers) → gates G1–G9 → NEW/KNOWN diff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81328" y="5705856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870448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F2A47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87044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SHIP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80360" y="5870448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32" name="Text 30"/>
          <p:cNvSpPr/>
          <p:nvPr/>
        </p:nvSpPr>
        <p:spPr>
          <a:xfrm>
            <a:off x="3108960" y="5870448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refuter · named human review · zone-3 noise audit · replay → CSV/JSON</a:t>
            </a:r>
            <a:endParaRPr lang="en-US" sz="1200" dirty="0"/>
          </a:p>
        </p:txBody>
      </p:sp>
      <p:pic>
        <p:nvPicPr>
          <p:cNvPr id="33" name="Picture 32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34" name="Picture 33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FRAMEWORKS, LICENSING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Technology Solution &amp; Innovative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22400"/>
            <a:ext cx="5486400" cy="5029200"/>
          </a:xfrm>
          <a:prstGeom prst="roundRect">
            <a:avLst>
              <a:gd name="adj" fmla="val 1509"/>
            </a:avLst>
          </a:prstGeom>
          <a:solidFill>
            <a:srgbClr val="EDF5FC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LICENSING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22400"/>
            <a:ext cx="5303520" cy="5029200"/>
          </a:xfrm>
          <a:prstGeom prst="roundRect">
            <a:avLst>
              <a:gd name="adj" fmla="val 1509"/>
            </a:avLst>
          </a:prstGeom>
          <a:solidFill>
            <a:srgbClr val="F3FBF9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300" dirty="0"/>
          </a:p>
        </p:txBody>
      </p:sp>
      <p:pic>
        <p:nvPicPr>
          <p:cNvPr id="10" name="Picture 9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1" name="Picture 10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  <p:sp>
        <p:nvSpPr>
          <p:cNvPr id="200" name="Info 200"/>
          <p:cNvSpPr/>
          <p:nvPr/>
        </p:nvSpPr>
        <p:spPr>
          <a:xfrm>
            <a:off x="825500" y="2006600"/>
            <a:ext cx="558800" cy="6858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txBody>
          <a:bodyPr wrap="square" lIns="114300" tIns="50800" rIns="114300" bIns="50800" anchor="ctr">
            <a:normAutofit/>
          </a:bodyPr>
          <a:lstStyle/>
          <a:p>
            <a:pPr algn="ctr">
              <a:buNone/>
            </a:pPr>
            <a:r>
              <a:rPr lang="en-GB" sz="14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01" name="Info 201"/>
          <p:cNvSpPr/>
          <p:nvPr/>
        </p:nvSpPr>
        <p:spPr>
          <a:xfrm>
            <a:off x="1460500" y="2006600"/>
            <a:ext cx="43053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00" tIns="50800" rIns="114300" bIns="50800" anchor="ctr">
            <a:normAutofit/>
          </a:bodyPr>
          <a:lstStyle/>
          <a:p>
            <a:pPr algn="l">
              <a:buNone/>
            </a:pPr>
            <a:r>
              <a:rPr lang="en-GB" sz="1400" b="1" dirty="0">
                <a:solidFill>
                  <a:srgbClr val="14313D"/>
                </a:solidFill>
                <a:latin typeface="Calibri"/>
              </a:rPr>
              <a:t>Engine</a:t>
            </a:r>
          </a:p>
          <a:p>
            <a:pPr algn="l">
              <a:buNone/>
            </a:pPr>
            <a:r>
              <a:rPr lang="en-GB" sz="1000" dirty="0">
                <a:solidFill>
                  <a:srgbClr val="4A5A66"/>
                </a:solidFill>
                <a:latin typeface="Calibri"/>
              </a:rPr>
              <a:t>Python 3.12 · httpx / pydantic / numpy · pymupdf</a:t>
            </a:r>
          </a:p>
        </p:txBody>
      </p:sp>
      <p:sp>
        <p:nvSpPr>
          <p:cNvPr id="202" name="Info 202"/>
          <p:cNvSpPr/>
          <p:nvPr/>
        </p:nvSpPr>
        <p:spPr>
          <a:xfrm>
            <a:off x="825500" y="2781300"/>
            <a:ext cx="558800" cy="6858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txBody>
          <a:bodyPr wrap="square" lIns="114300" tIns="50800" rIns="114300" bIns="50800" anchor="ctr">
            <a:normAutofit/>
          </a:bodyPr>
          <a:lstStyle/>
          <a:p>
            <a:pPr algn="ctr">
              <a:buNone/>
            </a:pPr>
            <a:r>
              <a:rPr lang="en-GB" sz="14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3" name="Info 203"/>
          <p:cNvSpPr/>
          <p:nvPr/>
        </p:nvSpPr>
        <p:spPr>
          <a:xfrm>
            <a:off x="1460500" y="2781300"/>
            <a:ext cx="43053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00" tIns="50800" rIns="114300" bIns="50800" anchor="ctr">
            <a:normAutofit/>
          </a:bodyPr>
          <a:lstStyle/>
          <a:p>
            <a:pPr algn="l">
              <a:buNone/>
            </a:pPr>
            <a:r>
              <a:rPr lang="en-GB" sz="1400" b="1" dirty="0">
                <a:solidFill>
                  <a:srgbClr val="14313D"/>
                </a:solidFill>
                <a:latin typeface="Calibri"/>
              </a:rPr>
              <a:t>Graph</a:t>
            </a:r>
          </a:p>
          <a:p>
            <a:pPr algn="l">
              <a:buNone/>
            </a:pPr>
            <a:r>
              <a:rPr lang="en-GB" sz="1000" dirty="0">
                <a:solidFill>
                  <a:srgbClr val="4A5A66"/>
                </a:solidFill>
                <a:latin typeface="Calibri"/>
              </a:rPr>
              <a:t>SQLite + FTS5 default · Neo4j Community optional</a:t>
            </a:r>
          </a:p>
        </p:txBody>
      </p:sp>
      <p:sp>
        <p:nvSpPr>
          <p:cNvPr id="204" name="Info 204"/>
          <p:cNvSpPr/>
          <p:nvPr/>
        </p:nvSpPr>
        <p:spPr>
          <a:xfrm>
            <a:off x="825500" y="3556000"/>
            <a:ext cx="558800" cy="6858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txBody>
          <a:bodyPr wrap="square" lIns="114300" tIns="50800" rIns="114300" bIns="50800" anchor="ctr">
            <a:normAutofit/>
          </a:bodyPr>
          <a:lstStyle/>
          <a:p>
            <a:pPr algn="ctr">
              <a:buNone/>
            </a:pPr>
            <a:r>
              <a:rPr lang="en-GB" sz="14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5" name="Info 205"/>
          <p:cNvSpPr/>
          <p:nvPr/>
        </p:nvSpPr>
        <p:spPr>
          <a:xfrm>
            <a:off x="1460500" y="3556000"/>
            <a:ext cx="43053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00" tIns="50800" rIns="114300" bIns="50800" anchor="ctr">
            <a:normAutofit/>
          </a:bodyPr>
          <a:lstStyle/>
          <a:p>
            <a:pPr algn="l">
              <a:buNone/>
            </a:pPr>
            <a:r>
              <a:rPr lang="en-GB" sz="1400" b="1" dirty="0">
                <a:solidFill>
                  <a:srgbClr val="14313D"/>
                </a:solidFill>
                <a:latin typeface="Calibri"/>
              </a:rPr>
              <a:t>Models</a:t>
            </a:r>
          </a:p>
          <a:p>
            <a:pPr algn="l">
              <a:buNone/>
            </a:pPr>
            <a:r>
              <a:rPr lang="en-GB" sz="1000" dirty="0">
                <a:solidFill>
                  <a:srgbClr val="4A5A66"/>
                </a:solidFill>
                <a:latin typeface="Calibri"/>
              </a:rPr>
              <a:t>models.yaml swap: cloud GPT tiers or local Ollama · BGE-M3 · OCR-VLM</a:t>
            </a:r>
          </a:p>
        </p:txBody>
      </p:sp>
      <p:sp>
        <p:nvSpPr>
          <p:cNvPr id="206" name="Info 206"/>
          <p:cNvSpPr/>
          <p:nvPr/>
        </p:nvSpPr>
        <p:spPr>
          <a:xfrm>
            <a:off x="825500" y="4330700"/>
            <a:ext cx="558800" cy="6858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txBody>
          <a:bodyPr wrap="square" lIns="114300" tIns="50800" rIns="114300" bIns="50800" anchor="ctr">
            <a:normAutofit/>
          </a:bodyPr>
          <a:lstStyle/>
          <a:p>
            <a:pPr algn="ctr">
              <a:buNone/>
            </a:pPr>
            <a:r>
              <a:rPr lang="en-GB" sz="14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7" name="Info 207"/>
          <p:cNvSpPr/>
          <p:nvPr/>
        </p:nvSpPr>
        <p:spPr>
          <a:xfrm>
            <a:off x="1460500" y="4330700"/>
            <a:ext cx="43053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00" tIns="50800" rIns="114300" bIns="50800" anchor="ctr">
            <a:normAutofit/>
          </a:bodyPr>
          <a:lstStyle/>
          <a:p>
            <a:pPr algn="l">
              <a:buNone/>
            </a:pPr>
            <a:r>
              <a:rPr lang="en-GB" sz="1400" b="1" dirty="0">
                <a:solidFill>
                  <a:srgbClr val="14313D"/>
                </a:solidFill>
                <a:latin typeface="Calibri"/>
              </a:rPr>
              <a:t>App</a:t>
            </a:r>
          </a:p>
          <a:p>
            <a:pPr algn="l">
              <a:buNone/>
            </a:pPr>
            <a:r>
              <a:rPr lang="en-GB" sz="1000" dirty="0">
                <a:solidFill>
                  <a:srgbClr val="4A5A66"/>
                </a:solidFill>
                <a:latin typeface="Calibri"/>
              </a:rPr>
              <a:t>Django + DRF · Next.js / React · PostgreSQL</a:t>
            </a:r>
          </a:p>
        </p:txBody>
      </p:sp>
      <p:sp>
        <p:nvSpPr>
          <p:cNvPr id="208" name="Info 208"/>
          <p:cNvSpPr/>
          <p:nvPr/>
        </p:nvSpPr>
        <p:spPr>
          <a:xfrm>
            <a:off x="825500" y="5105400"/>
            <a:ext cx="558800" cy="6858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txBody>
          <a:bodyPr wrap="square" lIns="114300" tIns="50800" rIns="114300" bIns="50800" anchor="ctr">
            <a:normAutofit/>
          </a:bodyPr>
          <a:lstStyle/>
          <a:p>
            <a:pPr algn="ctr">
              <a:buNone/>
            </a:pPr>
            <a:r>
              <a:rPr lang="en-GB" sz="14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9" name="Info 209"/>
          <p:cNvSpPr/>
          <p:nvPr/>
        </p:nvSpPr>
        <p:spPr>
          <a:xfrm>
            <a:off x="1460500" y="5105400"/>
            <a:ext cx="43053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00" tIns="50800" rIns="114300" bIns="50800" anchor="ctr">
            <a:normAutofit/>
          </a:bodyPr>
          <a:lstStyle/>
          <a:p>
            <a:pPr algn="l">
              <a:buNone/>
            </a:pPr>
            <a:r>
              <a:rPr lang="en-GB" sz="1400" b="1" dirty="0">
                <a:solidFill>
                  <a:srgbClr val="14313D"/>
                </a:solidFill>
                <a:latin typeface="Calibri"/>
              </a:rPr>
              <a:t>Ops</a:t>
            </a:r>
          </a:p>
          <a:p>
            <a:pPr algn="l">
              <a:buNone/>
            </a:pPr>
            <a:r>
              <a:rPr lang="en-GB" sz="1000" dirty="0">
                <a:solidFill>
                  <a:srgbClr val="4A5A66"/>
                </a:solidFill>
                <a:latin typeface="Calibri"/>
              </a:rPr>
              <a:t>systemd + nginx on plain Linux · Path A runs fully offline</a:t>
            </a:r>
          </a:p>
        </p:txBody>
      </p:sp>
      <p:sp>
        <p:nvSpPr>
          <p:cNvPr id="210" name="Info 210"/>
          <p:cNvSpPr/>
          <p:nvPr/>
        </p:nvSpPr>
        <p:spPr>
          <a:xfrm>
            <a:off x="825500" y="5943600"/>
            <a:ext cx="4940300" cy="431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50800" rIns="114300" bIns="50800" anchor="t" anchorCtr="0">
            <a:noAutofit/>
          </a:bodyPr>
          <a:lstStyle/>
          <a:p>
            <a:pPr algn="l">
              <a:buNone/>
            </a:pPr>
            <a:r>
              <a:rPr lang="en-GB" sz="1100" i="1" dirty="0">
                <a:solidFill>
                  <a:srgbClr val="3E4E59"/>
                </a:solidFill>
                <a:latin typeface="Calibri"/>
              </a:rPr>
              <a:t>All permissive licences (PSF / BSD / MIT / PostgreSQL); pymupdf AGPL used unmodified · no proprietary services required</a:t>
            </a:r>
          </a:p>
        </p:txBody>
      </p:sp>
      <p:sp>
        <p:nvSpPr>
          <p:cNvPr id="300" name="Diff 300"/>
          <p:cNvSpPr/>
          <p:nvPr/>
        </p:nvSpPr>
        <p:spPr>
          <a:xfrm>
            <a:off x="6578600" y="2006600"/>
            <a:ext cx="4749800" cy="774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>
              <a:buNone/>
            </a:pPr>
            <a:endParaRPr lang="en-GB"/>
          </a:p>
        </p:txBody>
      </p:sp>
      <p:sp>
        <p:nvSpPr>
          <p:cNvPr id="301" name="Diff 301"/>
          <p:cNvSpPr/>
          <p:nvPr/>
        </p:nvSpPr>
        <p:spPr>
          <a:xfrm>
            <a:off x="6578600" y="2006600"/>
            <a:ext cx="63500" cy="7747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>
              <a:buNone/>
            </a:pPr>
            <a:endParaRPr lang="en-GB"/>
          </a:p>
        </p:txBody>
      </p:sp>
      <p:sp>
        <p:nvSpPr>
          <p:cNvPr id="302" name="Diff 302"/>
          <p:cNvSpPr/>
          <p:nvPr/>
        </p:nvSpPr>
        <p:spPr>
          <a:xfrm>
            <a:off x="6756400" y="2006600"/>
            <a:ext cx="4445000" cy="7747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 algn="l">
              <a:buNone/>
            </a:pPr>
            <a:r>
              <a:rPr lang="en-GB" sz="1400" b="1" dirty="0">
                <a:solidFill>
                  <a:srgbClr val="14313D"/>
                </a:solidFill>
                <a:latin typeface="Calibri"/>
              </a:rPr>
              <a:t>Proof chain, not just answers</a:t>
            </a:r>
          </a:p>
          <a:p>
            <a:pPr algn="l">
              <a:buNone/>
            </a:pPr>
            <a:r>
              <a:rPr lang="en-GB" sz="1000" dirty="0">
                <a:solidFill>
                  <a:srgbClr val="4A5A66"/>
                </a:solidFill>
                <a:latin typeface="Calibri"/>
              </a:rPr>
              <a:t>Every row carries archived bytes + SHA-256 + span-level citation + gate results</a:t>
            </a:r>
          </a:p>
        </p:txBody>
      </p:sp>
      <p:sp>
        <p:nvSpPr>
          <p:cNvPr id="303" name="Diff 303"/>
          <p:cNvSpPr/>
          <p:nvPr/>
        </p:nvSpPr>
        <p:spPr>
          <a:xfrm>
            <a:off x="6578600" y="2882900"/>
            <a:ext cx="4749800" cy="774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>
              <a:buNone/>
            </a:pPr>
            <a:endParaRPr lang="en-GB"/>
          </a:p>
        </p:txBody>
      </p:sp>
      <p:sp>
        <p:nvSpPr>
          <p:cNvPr id="304" name="Diff 304"/>
          <p:cNvSpPr/>
          <p:nvPr/>
        </p:nvSpPr>
        <p:spPr>
          <a:xfrm>
            <a:off x="6578600" y="2882900"/>
            <a:ext cx="63500" cy="7747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>
              <a:buNone/>
            </a:pPr>
            <a:endParaRPr lang="en-GB"/>
          </a:p>
        </p:txBody>
      </p:sp>
      <p:sp>
        <p:nvSpPr>
          <p:cNvPr id="305" name="Diff 305"/>
          <p:cNvSpPr/>
          <p:nvPr/>
        </p:nvSpPr>
        <p:spPr>
          <a:xfrm>
            <a:off x="6756400" y="2882900"/>
            <a:ext cx="4445000" cy="7747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 algn="l">
              <a:buNone/>
            </a:pPr>
            <a:r>
              <a:rPr lang="en-GB" sz="1400" b="1" dirty="0">
                <a:solidFill>
                  <a:srgbClr val="14313D"/>
                </a:solidFill>
                <a:latin typeface="Calibri"/>
              </a:rPr>
              <a:t>Rubric-as-code</a:t>
            </a:r>
          </a:p>
          <a:p>
            <a:pPr algn="l">
              <a:buNone/>
            </a:pPr>
            <a:r>
              <a:rPr lang="en-GB" sz="1000" dirty="0">
                <a:solidFill>
                  <a:srgbClr val="4A5A66"/>
                </a:solidFill>
                <a:latin typeface="Calibri"/>
              </a:rPr>
              <a:t>Polarity, 0.5 tiers, exclusions and treaty scoping live in YAML data, never in code</a:t>
            </a:r>
          </a:p>
        </p:txBody>
      </p:sp>
      <p:sp>
        <p:nvSpPr>
          <p:cNvPr id="306" name="Diff 306"/>
          <p:cNvSpPr/>
          <p:nvPr/>
        </p:nvSpPr>
        <p:spPr>
          <a:xfrm>
            <a:off x="6578600" y="3759200"/>
            <a:ext cx="4749800" cy="774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>
              <a:buNone/>
            </a:pPr>
            <a:endParaRPr lang="en-GB"/>
          </a:p>
        </p:txBody>
      </p:sp>
      <p:sp>
        <p:nvSpPr>
          <p:cNvPr id="307" name="Diff 307"/>
          <p:cNvSpPr/>
          <p:nvPr/>
        </p:nvSpPr>
        <p:spPr>
          <a:xfrm>
            <a:off x="6578600" y="3759200"/>
            <a:ext cx="63500" cy="7747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>
              <a:buNone/>
            </a:pPr>
            <a:endParaRPr lang="en-GB"/>
          </a:p>
        </p:txBody>
      </p:sp>
      <p:sp>
        <p:nvSpPr>
          <p:cNvPr id="308" name="Diff 308"/>
          <p:cNvSpPr/>
          <p:nvPr/>
        </p:nvSpPr>
        <p:spPr>
          <a:xfrm>
            <a:off x="6756400" y="3759200"/>
            <a:ext cx="4445000" cy="7747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 algn="l">
              <a:buNone/>
            </a:pPr>
            <a:r>
              <a:rPr lang="en-GB" sz="1400" b="1" dirty="0">
                <a:solidFill>
                  <a:srgbClr val="14313D"/>
                </a:solidFill>
                <a:latin typeface="Calibri"/>
              </a:rPr>
              <a:t>Honest failure</a:t>
            </a:r>
          </a:p>
          <a:p>
            <a:pPr algn="l">
              <a:buNone/>
            </a:pPr>
            <a:r>
              <a:rPr lang="en-GB" sz="1000" dirty="0">
                <a:solidFill>
                  <a:srgbClr val="4A5A66"/>
                </a:solidFill>
                <a:latin typeface="Calibri"/>
              </a:rPr>
              <a:t>Dead links become ACQUISITION_UNRESOLVED and BLOCK absence conclusions</a:t>
            </a:r>
          </a:p>
        </p:txBody>
      </p:sp>
      <p:sp>
        <p:nvSpPr>
          <p:cNvPr id="309" name="Diff 309"/>
          <p:cNvSpPr/>
          <p:nvPr/>
        </p:nvSpPr>
        <p:spPr>
          <a:xfrm>
            <a:off x="6578600" y="4635500"/>
            <a:ext cx="4749800" cy="774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>
              <a:buNone/>
            </a:pPr>
            <a:endParaRPr lang="en-GB"/>
          </a:p>
        </p:txBody>
      </p:sp>
      <p:sp>
        <p:nvSpPr>
          <p:cNvPr id="310" name="Diff 310"/>
          <p:cNvSpPr/>
          <p:nvPr/>
        </p:nvSpPr>
        <p:spPr>
          <a:xfrm>
            <a:off x="6578600" y="4635500"/>
            <a:ext cx="63500" cy="7747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>
              <a:buNone/>
            </a:pPr>
            <a:endParaRPr lang="en-GB"/>
          </a:p>
        </p:txBody>
      </p:sp>
      <p:sp>
        <p:nvSpPr>
          <p:cNvPr id="311" name="Diff 311"/>
          <p:cNvSpPr/>
          <p:nvPr/>
        </p:nvSpPr>
        <p:spPr>
          <a:xfrm>
            <a:off x="6756400" y="4635500"/>
            <a:ext cx="4445000" cy="7747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 algn="l">
              <a:buNone/>
            </a:pPr>
            <a:r>
              <a:rPr lang="en-GB" sz="1400" b="1" dirty="0">
                <a:solidFill>
                  <a:srgbClr val="14313D"/>
                </a:solidFill>
                <a:latin typeface="Calibri"/>
              </a:rPr>
              <a:t>Processing fingerprints</a:t>
            </a:r>
          </a:p>
          <a:p>
            <a:pPr algn="l">
              <a:buNone/>
            </a:pPr>
            <a:r>
              <a:rPr lang="en-GB" sz="1000" dirty="0">
                <a:solidFill>
                  <a:srgbClr val="4A5A66"/>
                </a:solidFill>
                <a:latin typeface="Calibri"/>
              </a:rPr>
              <a:t>Source sha + extractor version + grammar profile gate every cache reuse</a:t>
            </a:r>
          </a:p>
        </p:txBody>
      </p:sp>
      <p:sp>
        <p:nvSpPr>
          <p:cNvPr id="312" name="Diff 312"/>
          <p:cNvSpPr/>
          <p:nvPr/>
        </p:nvSpPr>
        <p:spPr>
          <a:xfrm>
            <a:off x="6578600" y="5511800"/>
            <a:ext cx="4749800" cy="774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>
              <a:buNone/>
            </a:pPr>
            <a:endParaRPr lang="en-GB"/>
          </a:p>
        </p:txBody>
      </p:sp>
      <p:sp>
        <p:nvSpPr>
          <p:cNvPr id="313" name="Diff 313"/>
          <p:cNvSpPr/>
          <p:nvPr/>
        </p:nvSpPr>
        <p:spPr>
          <a:xfrm>
            <a:off x="6578600" y="5511800"/>
            <a:ext cx="63500" cy="7747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>
              <a:buNone/>
            </a:pPr>
            <a:endParaRPr lang="en-GB"/>
          </a:p>
        </p:txBody>
      </p:sp>
      <p:sp>
        <p:nvSpPr>
          <p:cNvPr id="314" name="Diff 314"/>
          <p:cNvSpPr/>
          <p:nvPr/>
        </p:nvSpPr>
        <p:spPr>
          <a:xfrm>
            <a:off x="6756400" y="5511800"/>
            <a:ext cx="4445000" cy="774700"/>
          </a:xfrm>
          <a:prstGeom prst="rect">
            <a:avLst/>
          </a:prstGeom>
          <a:noFill/>
          <a:ln>
            <a:noFill/>
          </a:ln>
        </p:spPr>
        <p:txBody>
          <a:bodyPr wrap="square" lIns="127000" tIns="63500" rIns="127000" bIns="63500" anchor="ctr">
            <a:normAutofit/>
          </a:bodyPr>
          <a:lstStyle/>
          <a:p>
            <a:pPr algn="l">
              <a:buNone/>
            </a:pPr>
            <a:r>
              <a:rPr lang="en-GB" sz="1400" b="1" dirty="0">
                <a:solidFill>
                  <a:srgbClr val="14313D"/>
                </a:solidFill>
                <a:latin typeface="Calibri"/>
              </a:rPr>
              <a:t>Gold-audit tripwire</a:t>
            </a:r>
          </a:p>
          <a:p>
            <a:pPr algn="l">
              <a:buNone/>
            </a:pPr>
            <a:r>
              <a:rPr lang="en-GB" sz="1000" dirty="0">
                <a:solidFill>
                  <a:srgbClr val="4A5A66"/>
                </a:solidFill>
                <a:latin typeface="Calibri"/>
              </a:rPr>
              <a:t>Detected planted errors in the provided Malaysia gold data; filed corrections with receipts</a:t>
            </a:r>
          </a:p>
        </p:txBody>
      </p:sp>
    </p:spTree>
    <p:extLst>
      <p:ext uri="{BB962C8B-B14F-4D97-AF65-F5344CB8AC3E}">
        <p14:creationId xmlns:p14="http://schemas.microsoft.com/office/powerpoint/2010/main" val="3738535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= STATUTE STRUCTURE, NEVER FIXED WINDOWS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Backend Logic I — Discover, Extract, 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49047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data/seeds.json (ESCAP inventory + deep-research deltas) drives acquisition. Each build reconciles the manifest: cached-ok is never refetched, new rows are fetched, failures are recorded — and declared expectations (e.g. "Art. 14.11 must parse") fail the build closed if the wrong document came back.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77063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 are organized by FILE FORMAT, not country: anchored-HTML (SSO print view, incl. subsidiary legislation), statute-PDF with named grammar profiles (Commonwealth "s. 12(1)", treaty "Art. 14.11", Malay "Seksyen 12A"), EPUB structure oracle aligned to the authorised PDF, OCR for scanned gazettes.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405079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retrieval and citation is the RuleUnit: one provision at subsection depth (id, article path, verbatim text, parent-section context, page/anchor location, modality components). No sliding windows — a citation can always name its exact clause.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4924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533095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→ Section → Provision nodes with CROSS_REFERENCES / AMENDS edges in a swappable GraphStore (SQLite judged path; Neo4j demo). Every provision carries legal status evidence, eligibility, source-artifact hash and processing fingerprint.</a:t>
            </a:r>
            <a:endParaRPr lang="en-US" sz="1100" dirty="0"/>
          </a:p>
        </p:txBody>
      </p:sp>
      <p:pic>
        <p:nvPicPr>
          <p:cNvPr id="16" name="Picture 15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7" name="Picture 16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· RUBRIC-AS-CODE MAPPING · 9 GATES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Backend Logic II — Retrieve, Map, Verify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49047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legs, unioned broad-recall (never top-k): deterministic exact-phrase/defined-term scan, BM25 full-text (FTS5), dense cosine (cached embeddings). Master-known anchors are INJECTED into the candidate set so gold recall never depends on ranking. Source-type allowlists scope evidence classes per indicator (P6-I5 = treaties only) before any cap; every truncation is recorded.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77063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screen (bulk tier) → mapping (high tier) with the indicator brief generated from YAML: legal test, polarity rule (absence-scored 7.1/7.2/6.5), exclusions, official scoring criteria. Low-confidence and ban-vs-condition ambiguity escalate to a stronger model; every rationale is stored.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G1–G9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405079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fail-closed, run on the FINAL exported text: G1 snippet is byte-exact in the archived source · G2 location · G3 official-domain authority · G4 currentness/status · G5 whole-rule · G6 rationale support · G7 indicator fit · G8 dangling references · G9 span-closure review flag.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4924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533095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is surfaced, not hidden: adversarial refuter attacks every NEW row; absence rows ship a search-coverage manifest and are blocked while any configured acquisition is unresolved; zone-3 scores get a multi-persona noise audit with Krippendorff’s α and a master-gold tripwire.</a:t>
            </a:r>
            <a:endParaRPr lang="en-US" sz="1050" dirty="0"/>
          </a:p>
        </p:txBody>
      </p:sp>
      <p:pic>
        <p:nvPicPr>
          <p:cNvPr id="16" name="Picture 15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7" name="Picture 16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LOGGED, REPRODUCIBLE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Evaluation Metrics &amp; Performance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6FB8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68,686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across six economies (SG · MY · AU · TH · IN · ID), parsed to subsection depth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6FB8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38728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gates on every row — snippet exactness is enforced by construction, not sampled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6300216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6FB8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167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45936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provision-level NEW candidates across six economies — 96 already through named human review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70264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07424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6FB8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211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53144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 across engine and web app, incl. real-writer integration suites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2560320"/>
          </a:xfrm>
          <a:prstGeom prst="roundRect">
            <a:avLst>
              <a:gd name="adj" fmla="val 2857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224528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fidelity — G1 verifies each exported snippet byte-exact against the archived official copy; alignment proofs bind PDF page spans. Zero-tolerance: a row that fails any gate cannot be exported.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Master-gold recall — every master-known anchor is tracked per run; misses are adjudicated into REAL_MISS / GOLD_WRONG / CORRECT_ABSTENTION with receipts (we filed corrections to the provided gold where its own citations were wrong).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quality — scanned-gazette path measured by character error rate (target &lt; 5%), with per-page confidence and citation-token disagreement flags carried into review.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speed — logs/cost_report.json meters every call; one economy-pillar run ≈ 7–15 min on the accuracy profile; embeddings cached, unchanged documents restamped, LLM spend only on changed evidence.</a:t>
            </a:r>
            <a:endParaRPr lang="en-US" sz="1150" dirty="0"/>
          </a:p>
        </p:txBody>
      </p:sp>
      <p:pic>
        <p:nvPicPr>
          <p:cNvPr id="19" name="Picture 18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20" name="Picture 19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JUDGES WILL SEE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Demo &amp; Preview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82496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1454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One command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536192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run.py --economy Singapore --pillar 6 — clean clone, offline Path A, no keys. The same engine the web console triggers.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07792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0E9E8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07792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Live web console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761488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Admin-gated Runs screen starts a real sweep; Review walks findings with source context and gate results; the RDTII Matrix shows all 60 indicator scores with reviewer decisions traced to their evidence rows.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133088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33088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Scanned-PDF path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986784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≤10-min recording processes a scanned gazette end-to-end: OCR → RuleUnits → mapped finding with page-anchored citation proof.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358384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0F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58384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Replay &amp; receipts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5212080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submission_replay.py regenerates the final CSV/JSON purely from approvals; every bundle is content-hashed so the artifact is reproducible on the judges’ machine.</a:t>
            </a:r>
            <a:endParaRPr lang="en-US" sz="1200" dirty="0"/>
          </a:p>
        </p:txBody>
      </p:sp>
      <p:pic>
        <p:nvPicPr>
          <p:cNvPr id="20" name="Picture 19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21" name="Picture 20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STORY · CHAPTER ONE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Six walls.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Six break-throughs.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next six slides actually happened during this build — and each fix left a receipt the engine still carries.</a:t>
            </a:r>
            <a:endParaRPr lang="en-US" sz="1800" dirty="0"/>
          </a:p>
        </p:txBody>
      </p:sp>
      <p:sp>
        <p:nvSpPr>
          <p:cNvPr id="6" name="Rounded Rectangle 5"/>
          <p:cNvSpPr/>
          <p:nvPr/>
        </p:nvSpPr>
        <p:spPr>
          <a:xfrm>
            <a:off x="9290101" y="73152"/>
            <a:ext cx="2828747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8" name="Picture 7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1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portals fight back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sits behind CloudFront rate-limiting; Australia’s treaty portal (dfat.gov.au) rejects the TLS handshake of anything that is not a real browser. Official inventories even carry dead links. A crawler that pretends this is fine produces silent gaps.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Politeness + backoff first; a real-browser (Playwright) fallback second. And when a wall would not fall — DFAT stayed geo-blocked — the engine records ACQUISITION_UNRESOLVED instead of concluding “no treaty exists.” Network failure is never legal absence.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P6-I5 ships blocked-by-design, with five unresolved acquisitions listed in its coverage manifest — visible in the app’s review screen.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2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reference data lied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Malaysia’s provided reference data contains deliberately planted errors — and Malaysia counts double. One master row cites “clause 4.11” of the Personal Data Protection Act 709. We searched the official text; that clause does not exist.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anchor is re-verified per run. Misses are adjudicated into REAL_MISS / GOLD_WRONG / CORRECT_ABSTENTION with named human decisions — so an error in the reference data becomes a documented correction, not a copied mistake.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GOLD_WRONG adjudications with reviewer receipts in data/review/recall_decisions.json; the audit trail is browsable in the Ledger.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3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Monster documents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666-page consolidated compilation. A telecommunications act published as two PDF volumes. Tables of contents that mimic real sections and poison naive parsers. Fixed-size chunking would shred provisions mid-sentence and cite none of them correctly.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Statute-structure parsing: an EPUB structure oracle aligned span-exact to the authorised PDF, a monotonic section filter that kills list-item false positives, and RuleUnits at subsection depth — the unit of retrieval IS the unit of citation.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39,787 Australian provisions parsed with page-anchored citations; Corporations Act 2001 alone contributes 14,078 aligned units.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4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scanner’s ghosts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gazettes arrive as scans. OCR misreads statutory labels — a “12B” becomes “12b” or worse, and a wrong section label means a wrong citation in front of a lawyer. Bilingual acts print “Seksyen 12A” where the gold data says “s. 12A.”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OCR router measures per-page confidence and carries it into review; a sequence-aware repair restores misread section labels from statutory order; a named Malay grammar profile parses Seksyen/Perkara headings while keeping Commonwealth citations.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OCR confidence + disagreement flags in review; Round 2 adds script-aware hybrid OCR for Thai and Devanagari gazettes.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5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polarity trap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scores 7.1, 7.2 and 6.5 on the ABSENCE of frameworks. Our first treaty sweep proved how dangerous that is: retrieval surfaced 77 relevant treaty articles for P6-I5 — and the mapper rejected every single one for proving the “wrong” answer to the indicator question.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is rubric DATA, not prompt folklore: absence-scored indicators carry an evidence rule that tells the mapper the row documents what EXISTS while the score captures absence. One YAML block fixed all 77; a regression test pins the behaviour forever.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one commit touching only configs/rdtii/pillar_6.yaml; the very next run produced CPTPP Art. 14.11 and DEPA Art. 4.3 as NEW rows.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6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half-quoted law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export ended a quotation at “…may be issued with an or” — a truncated word. Another stopped at a list-introducing colon, quoting a rule while omitting every one of its conditions. A lawyer reading either would stop trusting everything else.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 are finalized source-exact and structurally closed BEFORE any gate runs: closure follows list children to a genuine sentence stop, legal abbreviations (“s.”, “No.”) never count as endings, and a passage whose closure cannot be proven cannot be exported at 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G9 structural-closure gate records closure codes on every row; unclosable spans fail closed and go to human review instead of the output file.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STORY · CHAPTER TWO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Proof, not promises.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system anyone can open today — read-only demo access is printed on the login page. These are unedited screenshots.</a:t>
            </a:r>
            <a:endParaRPr lang="en-US" sz="1800" dirty="0"/>
          </a:p>
        </p:txBody>
      </p:sp>
      <p:sp>
        <p:nvSpPr>
          <p:cNvPr id="6" name="Rounded Rectangle 5"/>
          <p:cNvSpPr/>
          <p:nvPr/>
        </p:nvSpPr>
        <p:spPr>
          <a:xfrm>
            <a:off x="9290101" y="73152"/>
            <a:ext cx="2828747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8" name="Picture 7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COMMAND CENTRE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system refuses to flatter itself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dashboard’s champion gate reads FAIL until every human obligation is met.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 hash on every screen — the app is a mirror of engine artifacts, never its own truth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 progress across NEW / absence / recall / zone-3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simulated KPIs anywhere — the banner says so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REVIEW WORKBENCH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Where a lawyer meets the evidence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finding: exact source quote, mapping analysis, refuter verdict, staged sign-off.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span highlighted from the archived official copy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Refuter chips (RECOMMEND-KEEP / SPLIT-REVIEW) triage attention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rows N003/N004 — the first 6.5 evidence — sit in the same queue as everything else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RUN 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Every run is an accountable record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envelopes: measured cost, elapsed time, model route, warnings — per run.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$0.05–$0.80 per economy-pillar, printed with the model route that produced it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are first-class (“Full warnings (51)”), not buried in logs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hash on each envelope ties the UI to the artifact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Watching the evidence arrive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pipeline-craw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acquisition with archive hashes, reconciliation and failure honesty.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source: official URL, SHA-256, access date, status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links stay visible — they feed the audit, not the void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screen a judge would use to trace any citation back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output file, with its receipts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submi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consolidated dataset beside the decision bundles that produced it.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Template-exact columns, one consolidated CSV/JSON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Content-hashed review bundles — append-only history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regenerates identical bytes from approvals alone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KNOWLEDGE GRAPH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law as a graph, not a pile of text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knowledge-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→ Section → Provision with cross-references — browsable.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CROSS_REFERENCES edges follow “subject to s. 26” chains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default; Neo4j swap via one env var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carries legal status + eligibility + source hash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 ON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Innovation &amp; Competitive Advantage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Treaty-evidenced 6.5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P6-I5 rows cite the actual binding commitments (CPTPP Art. 14.11, DEPA Art. 4.3, RCEP Art. 12.15) parsed from official state registers through the same generic pipeline — no hand-curated rows anywhere.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DF6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727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7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 the gold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920240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re-verifies the provided master data and caught its planted Malaysia errors — including citations to clauses that do not exist — filing corrections with evidence.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918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is proven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639312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Score-0 claims carry a search-coverage manifest; unresolved acquisitions (e.g. a geo-blocked treaty register) BLOCK the absence conclusion instead of faking it.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17220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2918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is modelled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639312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Zone-3 scores ship a multi-persona noise audit (Krippendorff’s α) and a master-gold tripwire — a band with receipts, never a bare number.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109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Human-authoritative by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358384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reviewer ≠ mapping reviewer, enforced at write time; append-only receipts; the submission is replayable from decisions alone.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17220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50109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 the core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5358384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code names a statute or a row: targets live in seeds/YAML data. The rerun that added treaties, Malay grammar and subsidiary legislation changed configuration, not engine logic.</a:t>
            </a:r>
            <a:endParaRPr lang="en-US" sz="1080" dirty="0"/>
          </a:p>
        </p:txBody>
      </p:sp>
      <p:pic>
        <p:nvPicPr>
          <p:cNvPr id="22" name="Picture 2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23" name="Picture 2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FINALS QUESTION, ANSWERED CONCRETELY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Adding an Economy Is a Data Change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989320" cy="4846320"/>
          </a:xfrm>
          <a:prstGeom prst="roundRect">
            <a:avLst>
              <a:gd name="adj" fmla="val 1509"/>
            </a:avLst>
          </a:prstGeom>
          <a:solidFill>
            <a:srgbClr val="1025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configs/jurisdictions/th.yaml  (as shipped, Round 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5440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jurisdiction: 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source_format: pdf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languages: { primary: th, supported: [th, en]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section_grammars: [thai]          # "มาตรา N" — named profile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official_sources: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 domain: ratchakitcha.soc.go.th,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source_type: official_gazette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citation_patterns: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section: ["s. {n}", "มาตรา {n}"]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status_assertions: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"PDPA B.E. 2562": { status: in_force, fact_url: "…"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seed rows in data/seeds.json  (official URLs)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nothing else. No code.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20840" y="1417320"/>
            <a:ext cx="4892040" cy="4846320"/>
          </a:xfrm>
          <a:prstGeom prst="roundRect">
            <a:avLst>
              <a:gd name="adj" fmla="val 1509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1600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SCALES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95160" y="196596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 are format-based (HTML / PDF / EPUB / OCR), never country-based — a new economy reuses them untouched.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grammars are named data profiles: treaty, Malay, "มาตรา", "धारा/Rule" and "Pasal/ayat" have all shipped as dictionary entries.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YAML is economy-independent — pillars are added the same way (P8 = one new YAML, zero engine changes).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retrieval (BGE-M3) + original-language verbatim + English column are already wired.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Thailand, India and Indonesia went live exactly this way — three YAML packs + seed rows; full sweeps completed against the Round-2 gold.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government-verified Round-2 gold is ingested — and TH · IN · ID sweeps have already been evaluated against it.</a:t>
            </a:r>
            <a:endParaRPr lang="en-US" sz="1100" dirty="0"/>
          </a:p>
        </p:txBody>
      </p:sp>
      <p:pic>
        <p:nvPicPr>
          <p:cNvPr id="10" name="Picture 9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1" name="Picture 10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 ECONOMIES TO THE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Scalability &amp; Future Development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economy = data, not code — proven: TH, IN and ID were onboarded with three YAML packs + seed rows. Extractors are format-based; "มาตรา", "धारा" and "Pasal" grammars shipped ("Статья" next).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Finals-ready: three Round-2 economies fully swept and evaluated against the government-verified gold; five more follow the same data-only path.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architecture: script-aware hybrid OCR (Thai / Devanagari live), cross-lingual retrieval, original-language verbatim + English column, per-language grammars.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monitoring: incremental fingerprints mean a nightly run re-extracts only changed documents — amendment tracking falls out of the cache design.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03520" cy="4800600"/>
          </a:xfrm>
          <a:prstGeom prst="roundRect">
            <a:avLst>
              <a:gd name="adj" fmla="val 1524"/>
            </a:avLst>
          </a:prstGeom>
          <a:solidFill>
            <a:srgbClr val="F3FBF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ESCAP &amp; STAKEHOLDERS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 researchers — RDTII updates in hours instead of months, with every cell traceable to an archived official source.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— see exactly which provision produced each score; corrections become data changes with receipts.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&amp; trade lawyers — pinpoint, current, verifiable answers on cross-border data rules across jurisdictions.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— faster policy insight, fewer stale citations, lower compliance-research burden, and a reusable evidence commons for digital-trade regulation.</a:t>
            </a:r>
            <a:endParaRPr lang="en-US" sz="1150" dirty="0"/>
          </a:p>
        </p:txBody>
      </p:sp>
      <p:pic>
        <p:nvPicPr>
          <p:cNvPr id="10" name="Picture 9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1" name="Picture 10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Why </a:t>
            </a:r>
            <a:r>
              <a:rPr lang="en-US" sz="3400" b="1" dirty="0" err="1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ClauseChain</a:t>
            </a: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 can be </a:t>
            </a:r>
            <a:r>
              <a:rPr lang="en-US" sz="3400" b="1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 excellent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SUBSTANTIVE ACCURACY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provision-level NEW candidates across six economies — 96 already carry named human decisions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treaty-evidenced P6-I5 rows (CPTPP 14.11, DEPA 4.3, RCEP 12.15) from official registers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Byte-exact citations a lawyer verifies in seconds; polarity traps encoded as rubric data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audited the gold itself and caught the planted Malaysia errors — with receipts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16552" y="173736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RESILIENCE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45152" y="2286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portals with anti-bot walls beaten (backoff + real-browser fallback); failures recorded, never faked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gazettes: hybrid script-aware OCR (Thai/Devanagari live) with per-page confidence + glyph repair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with zero manual steps — and a web console that triggers the same engine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fingerprints: nightly re-runs re-extract only changed law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93024" y="173736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21624" y="2286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LLM / OCR / graph by config — two shipped profiles, incl. a fully key-free local path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beyond the ask: verbatim snippet + archived source + SHA-256 + gate results + named review + replay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cost: US$3.12 across all twelve economy-pillar runs — printed per run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economy = one YAML + seed rows — TH · IN · ID shipped exactly that way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product: every row the judges check will check out.</a:t>
            </a:r>
            <a:endParaRPr lang="en-US" sz="1600" dirty="0"/>
          </a:p>
        </p:txBody>
      </p:sp>
      <p:sp>
        <p:nvSpPr>
          <p:cNvPr id="15" name="Rounded Rectangle 14"/>
          <p:cNvSpPr/>
          <p:nvPr/>
        </p:nvSpPr>
        <p:spPr>
          <a:xfrm>
            <a:off x="9290101" y="73152"/>
            <a:ext cx="2828747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7" name="Picture 16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Sources, models &amp; libraries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DATA 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2.1 Guide, methodology sheet &amp; Round-1/Round-2 databases (UN ESCAP)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Statutes Online — sso.agc.gov.sg (Acts + subsidiary legislation print view)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Malaysia (AGC), Federal Gazette, PDP Department, NACSA, MITI FTA portal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Register of Legislation — legislation.gov.au (authorised PDF + EPUB)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treaty texts: CPTPP, RCEP, DEPA, SADEA, KSDPA (state registers)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16552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METHODS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bulk/escalation tiers via OpenRouter · local Ollama fallback profile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multilingual embeddings (MIT)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Noise-audit uncertainty design after Qian Xiao (Maynooth), 12 Jun workshop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corpus interaction / broad-recall motivation: Li et al., arXiv:2605.05242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legal schema after Chawuthai (KMITL), 12 Jun workshop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93024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LIBRARIES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21624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httpx · pydantic · numpy · pymupdf · pytest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SQLite/FTS5 · Neo4j Community (optional)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· DRF · Next.js · React · PostgreSQL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(anti-bot fallback) · systemd/nginx deployment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licence inventory in the repository README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ClauseChain · Team zAI BD · UN ESCAP RegTech AI Hackathon 2026</a:t>
            </a:r>
            <a:endParaRPr lang="en-US" sz="1100" dirty="0"/>
          </a:p>
        </p:txBody>
      </p:sp>
      <p:sp>
        <p:nvSpPr>
          <p:cNvPr id="15" name="Rounded Rectangle 14"/>
          <p:cNvSpPr/>
          <p:nvPr/>
        </p:nvSpPr>
        <p:spPr>
          <a:xfrm>
            <a:off x="9290101" y="73152"/>
            <a:ext cx="2828747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7" name="Picture 16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AA2DD12-C9BD-8743-B21F-E77E78D2B85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c7206ee-a12d-4ee1-ad6f-6664656f03e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13166</TotalTime>
  <Words>4067</Words>
  <Application>Microsoft Macintosh PowerPoint</Application>
  <PresentationFormat>Widescreen</PresentationFormat>
  <Paragraphs>340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Titillium Web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ClauseChain — RegTech AI Hackathon (RDTII Pillars 6 &amp; 7)</dc:title>
  <dc:subject>PptxGenJS Presentation</dc:subject>
  <dc:creator>Team zAI BD</dc:creator>
  <cp:lastModifiedBy>Abu Naser Md. Nafew</cp:lastModifiedBy>
  <cp:revision>20</cp:revision>
  <dcterms:created xsi:type="dcterms:W3CDTF">2026-07-20T10:09:55Z</dcterms:created>
  <dcterms:modified xsi:type="dcterms:W3CDTF">2026-08-12T06:34:57Z</dcterms:modified>
</cp:coreProperties>
</file>